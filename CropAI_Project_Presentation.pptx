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8" r:id="rId5"/>
    <p:sldId id="259" r:id="rId6"/>
    <p:sldId id="261" r:id="rId7"/>
    <p:sldId id="262" r:id="rId8"/>
    <p:sldId id="264" r:id="rId9"/>
    <p:sldId id="265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7706"/>
    <a:srgbClr val="97BC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2" y="11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07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3298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CropAI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Health Prediction + Website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2631760"/>
            <a:ext cx="365760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Smart Agriculture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>
            <a:extLst>
              <a:ext uri="{FF2B5EF4-FFF2-40B4-BE49-F238E27FC236}">
                <a16:creationId xmlns:a16="http://schemas.microsoft.com/office/drawing/2014/main" id="{5A3833D5-03CC-9BBF-92A1-51F59F8CBD77}"/>
              </a:ext>
            </a:extLst>
          </p:cNvPr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841115D-06F6-8A30-2D38-E67FD901CCFA}"/>
              </a:ext>
            </a:extLst>
          </p:cNvPr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44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E5C1AD99-3533-CE6A-7915-5767EDA76439}"/>
              </a:ext>
            </a:extLst>
          </p:cNvPr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E5E7EB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2947FC6E-51F8-C612-4B0B-C07ABDB355BA}"/>
              </a:ext>
            </a:extLst>
          </p:cNvPr>
          <p:cNvSpPr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Crop Health</a:t>
            </a:r>
            <a:endParaRPr lang="en-US" sz="18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CC4563F8-2E5B-44DA-C773-68A17978221F}"/>
              </a:ext>
            </a:extLst>
          </p:cNvPr>
          <p:cNvSpPr/>
          <p:nvPr/>
        </p:nvSpPr>
        <p:spPr>
          <a:xfrm>
            <a:off x="64008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latin typeface="Aptos Narrow" panose="020B0004020202020204" pitchFamily="34" charset="0"/>
              </a:rPr>
              <a:t>→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wheat crops as healthy or unhealthy</a:t>
            </a:r>
            <a:endParaRPr lang="en-US" sz="14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E2BDF513-00B5-7883-029C-4F7B00A13833}"/>
              </a:ext>
            </a:extLst>
          </p:cNvPr>
          <p:cNvSpPr/>
          <p:nvPr/>
        </p:nvSpPr>
        <p:spPr>
          <a:xfrm>
            <a:off x="4800600" y="1097280"/>
            <a:ext cx="4114800" cy="1645920"/>
          </a:xfrm>
          <a:prstGeom prst="rect">
            <a:avLst/>
          </a:prstGeom>
          <a:solidFill>
            <a:srgbClr val="E5E7EB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8E2D7F9F-9CEC-B4D7-7C33-5BE1A0B1666F}"/>
              </a:ext>
            </a:extLst>
          </p:cNvPr>
          <p:cNvSpPr/>
          <p:nvPr/>
        </p:nvSpPr>
        <p:spPr>
          <a:xfrm>
            <a:off x="49834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Analysis</a:t>
            </a:r>
            <a:endParaRPr lang="en-US" sz="18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C3F5CF01-0B99-9564-C841-BE2B400C27FF}"/>
              </a:ext>
            </a:extLst>
          </p:cNvPr>
          <p:cNvSpPr/>
          <p:nvPr/>
        </p:nvSpPr>
        <p:spPr>
          <a:xfrm>
            <a:off x="498348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latin typeface="Aptos Narrow" panose="020B0004020202020204" pitchFamily="34" charset="0"/>
              </a:rPr>
              <a:t>→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predictions using environmental data</a:t>
            </a:r>
            <a:endParaRPr lang="en-US" sz="140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736508C5-E6B3-33DB-EE6C-82BCB8B1A2A8}"/>
              </a:ext>
            </a:extLst>
          </p:cNvPr>
          <p:cNvSpPr/>
          <p:nvPr/>
        </p:nvSpPr>
        <p:spPr>
          <a:xfrm>
            <a:off x="457200" y="2834640"/>
            <a:ext cx="4114800" cy="1645920"/>
          </a:xfrm>
          <a:prstGeom prst="rect">
            <a:avLst/>
          </a:prstGeom>
          <a:solidFill>
            <a:srgbClr val="E5E7EB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AD6B4BAE-0402-5D6F-EB21-CE5AF6C0E505}"/>
              </a:ext>
            </a:extLst>
          </p:cNvPr>
          <p:cNvSpPr/>
          <p:nvPr/>
        </p:nvSpPr>
        <p:spPr>
          <a:xfrm>
            <a:off x="64008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Solution</a:t>
            </a:r>
            <a:endParaRPr lang="en-US" sz="18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E57AA883-C8DD-8A80-6DFB-0ADA794B03EF}"/>
              </a:ext>
            </a:extLst>
          </p:cNvPr>
          <p:cNvSpPr/>
          <p:nvPr/>
        </p:nvSpPr>
        <p:spPr>
          <a:xfrm>
            <a:off x="640080" y="33832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latin typeface="Aptos Narrow" panose="020B0004020202020204" pitchFamily="34" charset="0"/>
              </a:rPr>
              <a:t>→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tool for farmers using a web-based interface </a:t>
            </a:r>
            <a:endParaRPr lang="en-US" sz="14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EAD20E89-36D6-985B-E4B0-04FA1181B34C}"/>
              </a:ext>
            </a:extLst>
          </p:cNvPr>
          <p:cNvSpPr/>
          <p:nvPr/>
        </p:nvSpPr>
        <p:spPr>
          <a:xfrm>
            <a:off x="4800600" y="2834640"/>
            <a:ext cx="4114800" cy="1645920"/>
          </a:xfrm>
          <a:prstGeom prst="rect">
            <a:avLst/>
          </a:prstGeom>
          <a:solidFill>
            <a:srgbClr val="E5E7EB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13A94E1-6FFF-0F10-4D67-E160D78BDFE7}"/>
              </a:ext>
            </a:extLst>
          </p:cNvPr>
          <p:cNvSpPr/>
          <p:nvPr/>
        </p:nvSpPr>
        <p:spPr>
          <a:xfrm>
            <a:off x="498348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</a:t>
            </a:r>
            <a:endParaRPr lang="en-US" sz="18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6C2A619-0642-075D-4531-6447794176ED}"/>
              </a:ext>
            </a:extLst>
          </p:cNvPr>
          <p:cNvSpPr/>
          <p:nvPr/>
        </p:nvSpPr>
        <p:spPr>
          <a:xfrm>
            <a:off x="4983480" y="33832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latin typeface="Aptos Narrow" panose="020B0004020202020204" pitchFamily="34" charset="0"/>
              </a:rPr>
              <a:t>→</a:t>
            </a:r>
            <a:r>
              <a:rPr lang="en-US" sz="1400" dirty="0"/>
              <a:t> Decisions powered by agricultural data</a:t>
            </a: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C41D31E-BCE4-FD0B-E39A-E9D70943630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45063" y="1158400"/>
            <a:ext cx="3543307" cy="1747636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613994FC-31E3-2718-69E6-A66DEAC6B8A1}"/>
              </a:ext>
            </a:extLst>
          </p:cNvPr>
          <p:cNvSpPr/>
          <p:nvPr/>
        </p:nvSpPr>
        <p:spPr>
          <a:xfrm>
            <a:off x="457199" y="295754"/>
            <a:ext cx="74215" cy="666646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F014F77-BB4A-6C2B-7543-77B99BB65509}"/>
              </a:ext>
            </a:extLst>
          </p:cNvPr>
          <p:cNvSpPr/>
          <p:nvPr/>
        </p:nvSpPr>
        <p:spPr>
          <a:xfrm>
            <a:off x="640079" y="295754"/>
            <a:ext cx="7885371" cy="66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Data Preprocessing</a:t>
            </a:r>
            <a:endParaRPr lang="en-US" sz="4000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7265879D-9B50-F889-14F5-94292B12BF27}"/>
              </a:ext>
            </a:extLst>
          </p:cNvPr>
          <p:cNvSpPr/>
          <p:nvPr/>
        </p:nvSpPr>
        <p:spPr>
          <a:xfrm>
            <a:off x="471489" y="1158400"/>
            <a:ext cx="3727450" cy="1656233"/>
          </a:xfrm>
          <a:prstGeom prst="rect">
            <a:avLst/>
          </a:prstGeom>
          <a:solidFill>
            <a:srgbClr val="E5E7EB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B86E4AD1-A0A7-DC1D-6FA6-67DFA234EDB2}"/>
              </a:ext>
            </a:extLst>
          </p:cNvPr>
          <p:cNvSpPr/>
          <p:nvPr/>
        </p:nvSpPr>
        <p:spPr>
          <a:xfrm>
            <a:off x="654368" y="1277779"/>
            <a:ext cx="3356460" cy="346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</a:t>
            </a:r>
            <a:endParaRPr lang="en-US" sz="20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793F0699-4910-4D2A-55DA-AF55F0472E12}"/>
              </a:ext>
            </a:extLst>
          </p:cNvPr>
          <p:cNvSpPr/>
          <p:nvPr/>
        </p:nvSpPr>
        <p:spPr>
          <a:xfrm>
            <a:off x="471487" y="2906036"/>
            <a:ext cx="3727452" cy="1656234"/>
          </a:xfrm>
          <a:prstGeom prst="rect">
            <a:avLst/>
          </a:prstGeom>
          <a:solidFill>
            <a:srgbClr val="E5E7EB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E7E50511-37DC-F31D-35D0-FF521B782032}"/>
              </a:ext>
            </a:extLst>
          </p:cNvPr>
          <p:cNvSpPr/>
          <p:nvPr/>
        </p:nvSpPr>
        <p:spPr>
          <a:xfrm>
            <a:off x="654367" y="3090340"/>
            <a:ext cx="3617994" cy="300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4CB66B-9DA3-7830-FA19-34F82A73F415}"/>
              </a:ext>
            </a:extLst>
          </p:cNvPr>
          <p:cNvSpPr txBox="1"/>
          <p:nvPr/>
        </p:nvSpPr>
        <p:spPr>
          <a:xfrm>
            <a:off x="590072" y="1675294"/>
            <a:ext cx="3492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Kaggle Crop Health Dataset</a:t>
            </a: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Diverse crop samples with labels</a:t>
            </a: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Filtered to wheat crops only</a:t>
            </a: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Balanced healthy/unhealthy data</a:t>
            </a: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FBC4F8-E260-CFA3-778F-6A4B6074E959}"/>
              </a:ext>
            </a:extLst>
          </p:cNvPr>
          <p:cNvSpPr txBox="1"/>
          <p:nvPr/>
        </p:nvSpPr>
        <p:spPr>
          <a:xfrm>
            <a:off x="567213" y="3515460"/>
            <a:ext cx="37064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Remove invalid/missing values</a:t>
            </a: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Standardized numeric features</a:t>
            </a: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Split into train/validation/test sets</a:t>
            </a: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600" dirty="0">
              <a:latin typeface="Georgia" panose="02040502050405020303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9F543C-AD9E-B211-9CF4-70D5B5D8BC7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505563" y="3090340"/>
            <a:ext cx="2422306" cy="1656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FD9D39-B2D7-3972-8DB8-4ED72FF1639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456292"/>
            <a:ext cx="4318000" cy="28719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94CA56-5F5D-99CF-B4F2-43F637D8634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59085"/>
            <a:ext cx="4318000" cy="28719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88D0F1-E70E-DCB3-AE49-2F69088ED1D5}"/>
              </a:ext>
            </a:extLst>
          </p:cNvPr>
          <p:cNvSpPr txBox="1"/>
          <p:nvPr/>
        </p:nvSpPr>
        <p:spPr>
          <a:xfrm>
            <a:off x="4470400" y="3311321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Georgia" panose="02040502050405020303" pitchFamily="18" charset="0"/>
              </a:rPr>
              <a:t>This feature-importance chart shows which variables had the strongest influence on the Random Forest model. It helps explain which crop and field factors mattered most in the prediction process.</a:t>
            </a:r>
            <a:endParaRPr lang="en-CA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88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69A05627-C20B-C55A-B310-FF5C48CC8E76}"/>
              </a:ext>
            </a:extLst>
          </p:cNvPr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A10222B-A68C-5254-585A-EFCF4BE0DD04}"/>
              </a:ext>
            </a:extLst>
          </p:cNvPr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Analyzed</a:t>
            </a:r>
            <a:endParaRPr lang="en-US" sz="44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30394F5E-2A17-4AD1-8606-F2B60ACD6769}"/>
              </a:ext>
            </a:extLst>
          </p:cNvPr>
          <p:cNvSpPr/>
          <p:nvPr/>
        </p:nvSpPr>
        <p:spPr>
          <a:xfrm>
            <a:off x="457200" y="1188720"/>
            <a:ext cx="2543175" cy="17045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551D7B5-FED2-9ACB-F9EA-8E5357998D02}"/>
              </a:ext>
            </a:extLst>
          </p:cNvPr>
          <p:cNvSpPr/>
          <p:nvPr/>
        </p:nvSpPr>
        <p:spPr>
          <a:xfrm>
            <a:off x="457200" y="1188719"/>
            <a:ext cx="53594" cy="1704501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C2AC82D8-4838-0D4E-EB11-030E3C229E50}"/>
              </a:ext>
            </a:extLst>
          </p:cNvPr>
          <p:cNvSpPr/>
          <p:nvPr/>
        </p:nvSpPr>
        <p:spPr>
          <a:xfrm>
            <a:off x="594361" y="1325879"/>
            <a:ext cx="2255996" cy="39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 Conditions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04F33-7A0F-FB16-02D5-1549E43E12EA}"/>
              </a:ext>
            </a:extLst>
          </p:cNvPr>
          <p:cNvSpPr txBox="1"/>
          <p:nvPr/>
        </p:nvSpPr>
        <p:spPr>
          <a:xfrm>
            <a:off x="668656" y="1810960"/>
            <a:ext cx="1887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Moisture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Organic matter</a:t>
            </a: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6639DEA9-3ECF-E1FC-05A6-963E94D9C573}"/>
              </a:ext>
            </a:extLst>
          </p:cNvPr>
          <p:cNvSpPr/>
          <p:nvPr/>
        </p:nvSpPr>
        <p:spPr>
          <a:xfrm>
            <a:off x="1881187" y="3167540"/>
            <a:ext cx="2543175" cy="17045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22E76979-3DAE-21DF-49BB-9A26E4F760C0}"/>
              </a:ext>
            </a:extLst>
          </p:cNvPr>
          <p:cNvSpPr/>
          <p:nvPr/>
        </p:nvSpPr>
        <p:spPr>
          <a:xfrm>
            <a:off x="1881187" y="3167539"/>
            <a:ext cx="53594" cy="1704501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949A460-C8BA-B76B-FADC-CBAEA9930A3A}"/>
              </a:ext>
            </a:extLst>
          </p:cNvPr>
          <p:cNvSpPr/>
          <p:nvPr/>
        </p:nvSpPr>
        <p:spPr>
          <a:xfrm>
            <a:off x="2018348" y="3304699"/>
            <a:ext cx="2255996" cy="39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Conditions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933150-1774-BD00-313B-368C403B9DA2}"/>
              </a:ext>
            </a:extLst>
          </p:cNvPr>
          <p:cNvSpPr txBox="1"/>
          <p:nvPr/>
        </p:nvSpPr>
        <p:spPr>
          <a:xfrm>
            <a:off x="2092642" y="3711196"/>
            <a:ext cx="22559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Crop Stress Indicator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Pest damage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Weed coverage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0599EA1B-E4DE-CEA8-C752-B049B91D2243}"/>
              </a:ext>
            </a:extLst>
          </p:cNvPr>
          <p:cNvSpPr/>
          <p:nvPr/>
        </p:nvSpPr>
        <p:spPr>
          <a:xfrm>
            <a:off x="3305174" y="1188719"/>
            <a:ext cx="2543175" cy="17045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A21A33AC-18A3-F7D8-0AD4-193D11B3F807}"/>
              </a:ext>
            </a:extLst>
          </p:cNvPr>
          <p:cNvSpPr/>
          <p:nvPr/>
        </p:nvSpPr>
        <p:spPr>
          <a:xfrm>
            <a:off x="3305174" y="1188718"/>
            <a:ext cx="53594" cy="1704501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CA1E1AED-51E7-F03A-25C3-CF257675DF6E}"/>
              </a:ext>
            </a:extLst>
          </p:cNvPr>
          <p:cNvSpPr/>
          <p:nvPr/>
        </p:nvSpPr>
        <p:spPr>
          <a:xfrm>
            <a:off x="3442335" y="1325878"/>
            <a:ext cx="2255996" cy="39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latin typeface="Georgia" pitchFamily="34" charset="0"/>
              </a:rPr>
              <a:t>Weather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FB732C-A20E-FEB6-E9F6-52C416DAB44B}"/>
              </a:ext>
            </a:extLst>
          </p:cNvPr>
          <p:cNvSpPr txBox="1"/>
          <p:nvPr/>
        </p:nvSpPr>
        <p:spPr>
          <a:xfrm>
            <a:off x="3516630" y="1810959"/>
            <a:ext cx="1887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Humidity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Windspeed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4D10358F-03E5-D586-56F4-EA2C1D8BF420}"/>
              </a:ext>
            </a:extLst>
          </p:cNvPr>
          <p:cNvSpPr/>
          <p:nvPr/>
        </p:nvSpPr>
        <p:spPr>
          <a:xfrm>
            <a:off x="4719640" y="3173453"/>
            <a:ext cx="2543175" cy="17045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63888CA8-B6A0-0196-A892-89A6D4E6FA14}"/>
              </a:ext>
            </a:extLst>
          </p:cNvPr>
          <p:cNvSpPr/>
          <p:nvPr/>
        </p:nvSpPr>
        <p:spPr>
          <a:xfrm>
            <a:off x="4719640" y="3173452"/>
            <a:ext cx="53594" cy="1704501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E334B946-82C0-BDF0-321C-E6383275DE4D}"/>
              </a:ext>
            </a:extLst>
          </p:cNvPr>
          <p:cNvSpPr/>
          <p:nvPr/>
        </p:nvSpPr>
        <p:spPr>
          <a:xfrm>
            <a:off x="4856801" y="3310612"/>
            <a:ext cx="2255996" cy="39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Factors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9D209E-0AD7-035E-5491-5071BAE0518D}"/>
              </a:ext>
            </a:extLst>
          </p:cNvPr>
          <p:cNvSpPr txBox="1"/>
          <p:nvPr/>
        </p:nvSpPr>
        <p:spPr>
          <a:xfrm>
            <a:off x="4957068" y="3717030"/>
            <a:ext cx="220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Elevation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Water flow</a:t>
            </a: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36AB79EE-4F0A-166F-8F4F-0F0E6CEEC798}"/>
              </a:ext>
            </a:extLst>
          </p:cNvPr>
          <p:cNvSpPr/>
          <p:nvPr/>
        </p:nvSpPr>
        <p:spPr>
          <a:xfrm>
            <a:off x="6153148" y="1188718"/>
            <a:ext cx="2543175" cy="17045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E0FA174E-240D-741E-6DD0-4CE09164811D}"/>
              </a:ext>
            </a:extLst>
          </p:cNvPr>
          <p:cNvSpPr/>
          <p:nvPr/>
        </p:nvSpPr>
        <p:spPr>
          <a:xfrm>
            <a:off x="6153148" y="1188717"/>
            <a:ext cx="53594" cy="1704501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268FF87E-6AAB-9E4A-2DA6-A5EEC57BEBD4}"/>
              </a:ext>
            </a:extLst>
          </p:cNvPr>
          <p:cNvSpPr/>
          <p:nvPr/>
        </p:nvSpPr>
        <p:spPr>
          <a:xfrm>
            <a:off x="6290309" y="1325877"/>
            <a:ext cx="2255996" cy="39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Vegetation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C09D00-94D0-17B8-C5D7-445786C20885}"/>
              </a:ext>
            </a:extLst>
          </p:cNvPr>
          <p:cNvSpPr txBox="1"/>
          <p:nvPr/>
        </p:nvSpPr>
        <p:spPr>
          <a:xfrm>
            <a:off x="6364604" y="1810958"/>
            <a:ext cx="2322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NDVI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SAVI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latin typeface="Georgia" panose="02040502050405020303" pitchFamily="18" charset="0"/>
              </a:rPr>
              <a:t>Chlorophyll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Model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411480" y="11201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Metrics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1520" y="2760954"/>
            <a:ext cx="1828800" cy="914400"/>
          </a:xfrm>
          <a:prstGeom prst="rect">
            <a:avLst/>
          </a:prstGeom>
          <a:solidFill>
            <a:srgbClr val="E5E7EB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731520" y="289811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69.92%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31520" y="330959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0" y="2760954"/>
            <a:ext cx="1828800" cy="914400"/>
          </a:xfrm>
          <a:prstGeom prst="rect">
            <a:avLst/>
          </a:prstGeom>
          <a:solidFill>
            <a:srgbClr val="E5E7EB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2743200" y="289811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69.92%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2743200" y="330959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3840480"/>
            <a:ext cx="1828800" cy="914400"/>
          </a:xfrm>
          <a:prstGeom prst="rect">
            <a:avLst/>
          </a:prstGeom>
          <a:solidFill>
            <a:srgbClr val="E5E7EB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73152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73152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0" y="3840480"/>
            <a:ext cx="1828800" cy="914400"/>
          </a:xfrm>
          <a:prstGeom prst="rect">
            <a:avLst/>
          </a:prstGeom>
          <a:solidFill>
            <a:srgbClr val="E5E7EB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27432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82.30%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274320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AC9B2-41C1-0C6E-3B35-99CF1ACAB328}"/>
              </a:ext>
            </a:extLst>
          </p:cNvPr>
          <p:cNvSpPr txBox="1"/>
          <p:nvPr/>
        </p:nvSpPr>
        <p:spPr>
          <a:xfrm>
            <a:off x="372329" y="1485898"/>
            <a:ext cx="4671160" cy="11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Georgia" panose="02040502050405020303" pitchFamily="18" charset="0"/>
              </a:rPr>
              <a:t>Accuracy shows how often the model is correct.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Georgia" panose="02040502050405020303" pitchFamily="18" charset="0"/>
              </a:rPr>
              <a:t>Precision shows how reliable positive predictions are.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Georgia" panose="02040502050405020303" pitchFamily="18" charset="0"/>
              </a:rPr>
              <a:t>Recall shows how many true cases the model detects.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Georgia" panose="02040502050405020303" pitchFamily="18" charset="0"/>
              </a:rPr>
              <a:t>F1-score gives a balance between precision and recall.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D4D78-AFC1-1CBE-5FC6-CE7D58AF3C04}"/>
              </a:ext>
            </a:extLst>
          </p:cNvPr>
          <p:cNvSpPr txBox="1"/>
          <p:nvPr/>
        </p:nvSpPr>
        <p:spPr>
          <a:xfrm>
            <a:off x="5082640" y="1485900"/>
            <a:ext cx="3804189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 err="1">
                <a:effectLst/>
                <a:latin typeface="Georgia" panose="02040502050405020303" pitchFamily="18" charset="0"/>
              </a:rPr>
              <a:t>CropAI</a:t>
            </a:r>
            <a:r>
              <a:rPr lang="en-US" sz="1400" b="0" i="0" dirty="0">
                <a:effectLst/>
                <a:latin typeface="Georgia" panose="02040502050405020303" pitchFamily="18" charset="0"/>
              </a:rPr>
              <a:t> currently uses a </a:t>
            </a:r>
            <a:r>
              <a:rPr lang="en-US" sz="1400" b="1" i="0" dirty="0">
                <a:effectLst/>
                <a:latin typeface="Georgia" panose="02040502050405020303" pitchFamily="18" charset="0"/>
              </a:rPr>
              <a:t>Random Forest classifier</a:t>
            </a:r>
            <a:endParaRPr lang="en-US" sz="1400" b="0" i="0" dirty="0">
              <a:effectLst/>
              <a:latin typeface="Georgia" panose="02040502050405020303" pitchFamily="18" charset="0"/>
            </a:endParaRP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Georgia" panose="02040502050405020303" pitchFamily="18" charset="0"/>
              </a:rPr>
              <a:t>It predicts </a:t>
            </a:r>
            <a:r>
              <a:rPr lang="en-US" sz="1400" b="1" i="0" dirty="0">
                <a:effectLst/>
                <a:latin typeface="Georgia" panose="02040502050405020303" pitchFamily="18" charset="0"/>
              </a:rPr>
              <a:t>Healthy</a:t>
            </a:r>
            <a:r>
              <a:rPr lang="en-US" sz="1400" b="0" i="0" dirty="0">
                <a:effectLst/>
                <a:latin typeface="Georgia" panose="02040502050405020303" pitchFamily="18" charset="0"/>
              </a:rPr>
              <a:t> or </a:t>
            </a:r>
            <a:r>
              <a:rPr lang="en-US" sz="1400" b="1" i="0" dirty="0">
                <a:effectLst/>
                <a:latin typeface="Georgia" panose="02040502050405020303" pitchFamily="18" charset="0"/>
              </a:rPr>
              <a:t>Unhealthy</a:t>
            </a:r>
            <a:r>
              <a:rPr lang="en-US" sz="1400" b="0" i="0" dirty="0">
                <a:effectLst/>
                <a:latin typeface="Georgia" panose="02040502050405020303" pitchFamily="18" charset="0"/>
              </a:rPr>
              <a:t> wheat crops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Georgia" panose="02040502050405020303" pitchFamily="18" charset="0"/>
              </a:rPr>
              <a:t>The model learns from 17 agricultural input features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Georgia" panose="02040502050405020303" pitchFamily="18" charset="0"/>
              </a:rPr>
              <a:t>A scaler is applied before prediction to keep inputs consistent</a:t>
            </a: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479F62BC-5279-AE6D-4FE9-636D9502F895}"/>
              </a:ext>
            </a:extLst>
          </p:cNvPr>
          <p:cNvSpPr/>
          <p:nvPr/>
        </p:nvSpPr>
        <p:spPr>
          <a:xfrm>
            <a:off x="5082640" y="111680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5F2D"/>
                </a:solidFill>
                <a:latin typeface="Georgia" pitchFamily="34" charset="0"/>
              </a:rPr>
              <a:t>Model Used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>
            <a:extLst>
              <a:ext uri="{FF2B5EF4-FFF2-40B4-BE49-F238E27FC236}">
                <a16:creationId xmlns:a16="http://schemas.microsoft.com/office/drawing/2014/main" id="{5CE0D1BE-DD80-671B-6DC5-74B2EAF1BF40}"/>
              </a:ext>
            </a:extLst>
          </p:cNvPr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9150301-A014-595D-FD3C-855C3D4F8C7B}"/>
              </a:ext>
            </a:extLst>
          </p:cNvPr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1A26A9B1-2E43-0BF5-C39E-E88E7591AC2D}"/>
              </a:ext>
            </a:extLst>
          </p:cNvPr>
          <p:cNvSpPr/>
          <p:nvPr/>
        </p:nvSpPr>
        <p:spPr>
          <a:xfrm>
            <a:off x="548640" y="1188720"/>
            <a:ext cx="1508760" cy="1097280"/>
          </a:xfrm>
          <a:prstGeom prst="rect">
            <a:avLst/>
          </a:prstGeom>
          <a:solidFill>
            <a:srgbClr val="E5E7EB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20C26409-67CB-224D-A7DD-D13CEBCC9BFA}"/>
              </a:ext>
            </a:extLst>
          </p:cNvPr>
          <p:cNvSpPr/>
          <p:nvPr/>
        </p:nvSpPr>
        <p:spPr>
          <a:xfrm>
            <a:off x="548640" y="1280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57AE860C-98AA-3A9A-F167-CA9383A607D9}"/>
              </a:ext>
            </a:extLst>
          </p:cNvPr>
          <p:cNvSpPr/>
          <p:nvPr/>
        </p:nvSpPr>
        <p:spPr>
          <a:xfrm>
            <a:off x="640080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19CC6574-7EE8-5AD2-6297-C8C961044F02}"/>
              </a:ext>
            </a:extLst>
          </p:cNvPr>
          <p:cNvSpPr/>
          <p:nvPr/>
        </p:nvSpPr>
        <p:spPr>
          <a:xfrm>
            <a:off x="2748280" y="1188720"/>
            <a:ext cx="1508760" cy="1097280"/>
          </a:xfrm>
          <a:prstGeom prst="rect">
            <a:avLst/>
          </a:prstGeom>
          <a:solidFill>
            <a:srgbClr val="97BC62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ABCFF7C6-E569-6A6E-ACE1-04B7BFF2B14C}"/>
              </a:ext>
            </a:extLst>
          </p:cNvPr>
          <p:cNvSpPr/>
          <p:nvPr/>
        </p:nvSpPr>
        <p:spPr>
          <a:xfrm>
            <a:off x="2748280" y="1280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4530D943-81DC-1C16-DE5B-3EB6166DEA03}"/>
              </a:ext>
            </a:extLst>
          </p:cNvPr>
          <p:cNvSpPr/>
          <p:nvPr/>
        </p:nvSpPr>
        <p:spPr>
          <a:xfrm>
            <a:off x="2839720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E0AE5773-54F6-CE26-DEB5-EF9EF6057983}"/>
              </a:ext>
            </a:extLst>
          </p:cNvPr>
          <p:cNvSpPr/>
          <p:nvPr/>
        </p:nvSpPr>
        <p:spPr>
          <a:xfrm>
            <a:off x="4952274" y="1188720"/>
            <a:ext cx="1508760" cy="1097280"/>
          </a:xfrm>
          <a:prstGeom prst="rect">
            <a:avLst/>
          </a:prstGeom>
          <a:solidFill>
            <a:srgbClr val="E5E7EB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AA3EEEFC-83C0-86A1-D683-CFCFE61F604B}"/>
              </a:ext>
            </a:extLst>
          </p:cNvPr>
          <p:cNvSpPr/>
          <p:nvPr/>
        </p:nvSpPr>
        <p:spPr>
          <a:xfrm>
            <a:off x="4952274" y="1280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2A869516-98E3-39F7-066A-4AA4E246C700}"/>
              </a:ext>
            </a:extLst>
          </p:cNvPr>
          <p:cNvSpPr/>
          <p:nvPr/>
        </p:nvSpPr>
        <p:spPr>
          <a:xfrm>
            <a:off x="5043714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Prediction</a:t>
            </a:r>
            <a:endParaRPr lang="en-US" sz="1200" dirty="0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325A8D23-6E1B-E871-1158-47628748A489}"/>
              </a:ext>
            </a:extLst>
          </p:cNvPr>
          <p:cNvSpPr/>
          <p:nvPr/>
        </p:nvSpPr>
        <p:spPr>
          <a:xfrm>
            <a:off x="7156268" y="1188720"/>
            <a:ext cx="1508760" cy="1097280"/>
          </a:xfrm>
          <a:prstGeom prst="rect">
            <a:avLst/>
          </a:prstGeom>
          <a:solidFill>
            <a:srgbClr val="97BC62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D034DB9A-9E44-711C-F2B8-8CB4C5CA9C79}"/>
              </a:ext>
            </a:extLst>
          </p:cNvPr>
          <p:cNvSpPr/>
          <p:nvPr/>
        </p:nvSpPr>
        <p:spPr>
          <a:xfrm>
            <a:off x="7156268" y="1280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31CE7477-D11C-FAD7-EE04-7E8A01851063}"/>
              </a:ext>
            </a:extLst>
          </p:cNvPr>
          <p:cNvSpPr/>
          <p:nvPr/>
        </p:nvSpPr>
        <p:spPr>
          <a:xfrm>
            <a:off x="7247708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Dashboard</a:t>
            </a:r>
            <a:endParaRPr lang="en-US" sz="1200" dirty="0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57E276E4-C912-3378-730C-78D18E2931A4}"/>
              </a:ext>
            </a:extLst>
          </p:cNvPr>
          <p:cNvSpPr/>
          <p:nvPr/>
        </p:nvSpPr>
        <p:spPr>
          <a:xfrm>
            <a:off x="457200" y="25603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Application</a:t>
            </a:r>
            <a:endParaRPr lang="en-US" sz="1800" dirty="0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AC8F4234-2A54-90F7-9574-E77923765281}"/>
              </a:ext>
            </a:extLst>
          </p:cNvPr>
          <p:cNvSpPr/>
          <p:nvPr/>
        </p:nvSpPr>
        <p:spPr>
          <a:xfrm>
            <a:off x="943428" y="3017519"/>
            <a:ext cx="3512458" cy="1910071"/>
          </a:xfrm>
          <a:prstGeom prst="rect">
            <a:avLst/>
          </a:prstGeom>
          <a:solidFill>
            <a:srgbClr val="E5E7EB"/>
          </a:solidFill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15ADA936-E218-481D-B37A-BA7A58DF0D68}"/>
              </a:ext>
            </a:extLst>
          </p:cNvPr>
          <p:cNvSpPr/>
          <p:nvPr/>
        </p:nvSpPr>
        <p:spPr>
          <a:xfrm>
            <a:off x="1126309" y="3132908"/>
            <a:ext cx="2616166" cy="33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68A0120D-9B84-270C-EBE3-EB91A49DDD9F}"/>
              </a:ext>
            </a:extLst>
          </p:cNvPr>
          <p:cNvSpPr/>
          <p:nvPr/>
        </p:nvSpPr>
        <p:spPr>
          <a:xfrm>
            <a:off x="1124098" y="3622736"/>
            <a:ext cx="3209108" cy="98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anose="02040502050405020303" pitchFamily="18" charset="0"/>
              </a:rPr>
              <a:t>User-friendly form for entering crop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anose="02040502050405020303" pitchFamily="18" charset="0"/>
              </a:rPr>
              <a:t>Displays prediction, confidence, and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anose="02040502050405020303" pitchFamily="18" charset="0"/>
              </a:rPr>
              <a:t>Provides a simple and interactive interface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0C60AC6-051C-EDDA-9E98-83DA83248D9A}"/>
              </a:ext>
            </a:extLst>
          </p:cNvPr>
          <p:cNvCxnSpPr>
            <a:stCxn id="32" idx="3"/>
            <a:endCxn id="36" idx="1"/>
          </p:cNvCxnSpPr>
          <p:nvPr/>
        </p:nvCxnSpPr>
        <p:spPr>
          <a:xfrm>
            <a:off x="2057400" y="1737360"/>
            <a:ext cx="690880" cy="0"/>
          </a:xfrm>
          <a:prstGeom prst="straightConnector1">
            <a:avLst/>
          </a:prstGeom>
          <a:ln w="38100">
            <a:solidFill>
              <a:srgbClr val="97BC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3C900C-AE06-CF9A-E487-015E36AFEA1A}"/>
              </a:ext>
            </a:extLst>
          </p:cNvPr>
          <p:cNvCxnSpPr>
            <a:cxnSpLocks/>
            <a:stCxn id="36" idx="3"/>
            <a:endCxn id="40" idx="1"/>
          </p:cNvCxnSpPr>
          <p:nvPr/>
        </p:nvCxnSpPr>
        <p:spPr>
          <a:xfrm>
            <a:off x="4257040" y="1737360"/>
            <a:ext cx="695234" cy="0"/>
          </a:xfrm>
          <a:prstGeom prst="straightConnector1">
            <a:avLst/>
          </a:prstGeom>
          <a:ln w="38100">
            <a:solidFill>
              <a:srgbClr val="97BC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981B7F-FF5F-0841-C78E-386FBF95EE54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6461034" y="1737360"/>
            <a:ext cx="695234" cy="0"/>
          </a:xfrm>
          <a:prstGeom prst="straightConnector1">
            <a:avLst/>
          </a:prstGeom>
          <a:ln w="38100">
            <a:solidFill>
              <a:srgbClr val="97BC6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5">
            <a:extLst>
              <a:ext uri="{FF2B5EF4-FFF2-40B4-BE49-F238E27FC236}">
                <a16:creationId xmlns:a16="http://schemas.microsoft.com/office/drawing/2014/main" id="{349BFB4F-B72D-F856-F7B1-9175DD94D6CC}"/>
              </a:ext>
            </a:extLst>
          </p:cNvPr>
          <p:cNvSpPr/>
          <p:nvPr/>
        </p:nvSpPr>
        <p:spPr>
          <a:xfrm>
            <a:off x="4922012" y="3017519"/>
            <a:ext cx="3512458" cy="1910055"/>
          </a:xfrm>
          <a:prstGeom prst="rect">
            <a:avLst/>
          </a:prstGeom>
          <a:solidFill>
            <a:srgbClr val="E5E7EB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A639E012-18D5-7BE7-C1A2-3F6D18BA5B2C}"/>
              </a:ext>
            </a:extLst>
          </p:cNvPr>
          <p:cNvSpPr/>
          <p:nvPr/>
        </p:nvSpPr>
        <p:spPr>
          <a:xfrm>
            <a:off x="5152951" y="3132908"/>
            <a:ext cx="2616166" cy="33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FE06CA-9900-9396-7C63-D2423AE90357}"/>
              </a:ext>
            </a:extLst>
          </p:cNvPr>
          <p:cNvSpPr txBox="1"/>
          <p:nvPr/>
        </p:nvSpPr>
        <p:spPr>
          <a:xfrm>
            <a:off x="5116285" y="3497555"/>
            <a:ext cx="3384731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Georgia" panose="02040502050405020303" pitchFamily="18" charset="0"/>
              </a:rPr>
              <a:t>Flask manages requests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Georgia" panose="02040502050405020303" pitchFamily="18" charset="0"/>
              </a:rPr>
              <a:t>Input data is preprocessed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Georgia" panose="02040502050405020303" pitchFamily="18" charset="0"/>
              </a:rPr>
              <a:t>Model and scaler return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Limitations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526971" cy="1691640"/>
          </a:xfrm>
          <a:prstGeom prst="rect">
            <a:avLst/>
          </a:prstGeom>
          <a:solidFill>
            <a:srgbClr val="E5E7EB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91639"/>
            <a:ext cx="3271520" cy="99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Missing values and invalid rows required cleanup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Healthy labels outnumber unhealthy labels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051" y="1188720"/>
            <a:ext cx="4748349" cy="1691640"/>
          </a:xfrm>
          <a:prstGeom prst="rect">
            <a:avLst/>
          </a:prstGeom>
          <a:solidFill>
            <a:srgbClr val="E5E7EB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372791" y="131942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parameter 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731657" y="1874520"/>
            <a:ext cx="4366621" cy="5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0" y="3108960"/>
            <a:ext cx="4114800" cy="1579154"/>
          </a:xfrm>
          <a:prstGeom prst="rect">
            <a:avLst/>
          </a:prstGeom>
          <a:solidFill>
            <a:srgbClr val="E5E7EB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92608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Computational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26080" y="3625112"/>
            <a:ext cx="3689033" cy="881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Scalability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Scaling to more crops will need more experimentation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37CAB8-C3F8-500F-4246-C6FE2863B3D1}"/>
              </a:ext>
            </a:extLst>
          </p:cNvPr>
          <p:cNvSpPr txBox="1"/>
          <p:nvPr/>
        </p:nvSpPr>
        <p:spPr>
          <a:xfrm>
            <a:off x="4280263" y="1619146"/>
            <a:ext cx="44522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anose="02040502050405020303" pitchFamily="18" charset="0"/>
              </a:rPr>
              <a:t>The dataset does not include temporal parameters such as changes over time, seasonal trends, or time-series crop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anose="02040502050405020303" pitchFamily="18" charset="0"/>
              </a:rPr>
              <a:t> The model makes predictions from a single snapshot of crop conditions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8657"/>
            <a:ext cx="73152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40080" y="638657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Improvements</a:t>
            </a:r>
            <a:endParaRPr lang="en-US" sz="4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CF5DF-B98C-59A7-AC27-87664F75A62B}"/>
              </a:ext>
            </a:extLst>
          </p:cNvPr>
          <p:cNvSpPr txBox="1"/>
          <p:nvPr/>
        </p:nvSpPr>
        <p:spPr>
          <a:xfrm>
            <a:off x="587828" y="1567543"/>
            <a:ext cx="47969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Use a better dataset for the training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Expand the system to support other crop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Deploy the website online for easier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Integrate real-time sensor or weather data</a:t>
            </a:r>
          </a:p>
        </p:txBody>
      </p:sp>
      <p:pic>
        <p:nvPicPr>
          <p:cNvPr id="1026" name="Picture 2" descr="Future improvements Vectors - Download Free High-Quality Vectors from  Freepik | Freepik">
            <a:extLst>
              <a:ext uri="{FF2B5EF4-FFF2-40B4-BE49-F238E27FC236}">
                <a16:creationId xmlns:a16="http://schemas.microsoft.com/office/drawing/2014/main" id="{72EA9A83-B254-8E6A-D9F5-CE2A3E22D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408" y="1651699"/>
            <a:ext cx="3306536" cy="220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7BC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8787" y="2073116"/>
            <a:ext cx="6293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for the demo!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2857500" y="2904649"/>
            <a:ext cx="3657600" cy="54864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399</Words>
  <Application>Microsoft Office PowerPoint</Application>
  <PresentationFormat>On-screen Show (16:9)</PresentationFormat>
  <Paragraphs>105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 Narrow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CropAI: Wheat Crop Health Prediction</dc:title>
  <dc:subject>PptxGenJS Presentation</dc:subject>
  <dc:creator>CropAI Team</dc:creator>
  <cp:lastModifiedBy>Mohamed Abed</cp:lastModifiedBy>
  <cp:revision>6</cp:revision>
  <dcterms:created xsi:type="dcterms:W3CDTF">2026-04-07T23:01:10Z</dcterms:created>
  <dcterms:modified xsi:type="dcterms:W3CDTF">2026-04-08T18:15:24Z</dcterms:modified>
</cp:coreProperties>
</file>